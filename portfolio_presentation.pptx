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8FAB"/>
              </a:solidFill>
              <a:effectLst/>
            </c:spPr>
          </c:dPt>
          <c:dPt>
            <c:idx val="1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bubble3D val="0"/>
            <c:spPr>
              <a:solidFill>
                <a:srgbClr val="F4A261"/>
              </a:solidFill>
              <a:effectLst/>
            </c:spPr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bubble3D val="0"/>
            <c:spPr>
              <a:solidFill>
                <a:srgbClr val="3B82F6"/>
              </a:solidFill>
              <a:effectLst/>
            </c:spPr>
          </c:dPt>
          <c:dPt>
            <c:idx val="5"/>
            <c:bubble3D val="0"/>
            <c:spPr>
              <a:solidFill>
                <a:srgbClr val="22C55E"/>
              </a:solidFill>
              <a:effectLst/>
            </c:spPr>
          </c:dPt>
          <c:dPt>
            <c:idx val="6"/>
            <c:bubble3D val="0"/>
            <c:spPr>
              <a:solidFill>
                <a:srgbClr val="EAB308"/>
              </a:solidFill>
              <a:effectLst/>
            </c:spPr>
          </c:dPt>
          <c:dPt>
            <c:idx val="7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Financial Svcs</c:v>
                </c:pt>
                <c:pt idx="1">
                  <c:v>Information Tech</c:v>
                </c:pt>
                <c:pt idx="2">
                  <c:v>Consumer Disc.</c:v>
                </c:pt>
                <c:pt idx="3">
                  <c:v>Healthcare</c:v>
                </c:pt>
                <c:pt idx="4">
                  <c:v>Energy</c:v>
                </c:pt>
                <c:pt idx="5">
                  <c:v>Infrastructure</c:v>
                </c:pt>
                <c:pt idx="6">
                  <c:v>Gold/Commodity</c:v>
                </c:pt>
                <c:pt idx="7">
                  <c:v>Auto &amp; EV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20</c:v>
                </c:pt>
                <c:pt idx="1">
                  <c:v>17</c:v>
                </c:pt>
                <c:pt idx="2">
                  <c:v>14</c:v>
                </c:pt>
                <c:pt idx="3">
                  <c:v>13</c:v>
                </c:pt>
                <c:pt idx="4">
                  <c:v>12</c:v>
                </c:pt>
                <c:pt idx="5">
                  <c:v>10</c:v>
                </c:pt>
                <c:pt idx="6">
                  <c:v>8</c:v>
                </c:pt>
                <c:pt idx="7">
                  <c:v>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 (₹000s)</c:v>
                </c:pt>
              </c:strCache>
            </c:strRef>
          </c:tx>
          <c:spPr>
            <a:solidFill>
              <a:srgbClr val="0E8FAB"/>
            </a:solidFill>
            <a:ln w="31750" cap="flat">
              <a:solidFill>
                <a:srgbClr val="0E8F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8FAB"/>
              </a:solidFill>
              <a:ln w="9525" cap="flat">
                <a:solidFill>
                  <a:srgbClr val="0E8F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500</c:v>
                </c:pt>
                <c:pt idx="1">
                  <c:v>515</c:v>
                </c:pt>
                <c:pt idx="2">
                  <c:v>508</c:v>
                </c:pt>
                <c:pt idx="3">
                  <c:v>525</c:v>
                </c:pt>
                <c:pt idx="4">
                  <c:v>540</c:v>
                </c:pt>
                <c:pt idx="5">
                  <c:v>558</c:v>
                </c:pt>
                <c:pt idx="6">
                  <c:v>545</c:v>
                </c:pt>
                <c:pt idx="7">
                  <c:v>572</c:v>
                </c:pt>
                <c:pt idx="8">
                  <c:v>590</c:v>
                </c:pt>
                <c:pt idx="9">
                  <c:v>578</c:v>
                </c:pt>
                <c:pt idx="10">
                  <c:v>605</c:v>
                </c:pt>
                <c:pt idx="11">
                  <c:v>625</c:v>
                </c:pt>
                <c:pt idx="12">
                  <c:v>618</c:v>
                </c:pt>
                <c:pt idx="13">
                  <c:v>640</c:v>
                </c:pt>
                <c:pt idx="14">
                  <c:v>660</c:v>
                </c:pt>
                <c:pt idx="15">
                  <c:v>645</c:v>
                </c:pt>
                <c:pt idx="16">
                  <c:v>672</c:v>
                </c:pt>
                <c:pt idx="17">
                  <c:v>658</c:v>
                </c:pt>
                <c:pt idx="18">
                  <c:v>690</c:v>
                </c:pt>
                <c:pt idx="19">
                  <c:v>710</c:v>
                </c:pt>
                <c:pt idx="20">
                  <c:v>695</c:v>
                </c:pt>
                <c:pt idx="21">
                  <c:v>720</c:v>
                </c:pt>
                <c:pt idx="22">
                  <c:v>705</c:v>
                </c:pt>
                <c:pt idx="23">
                  <c:v>684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Nifty 50 (scaled)</c:v>
                </c:pt>
              </c:strCache>
            </c:strRef>
          </c:tx>
          <c:spPr>
            <a:solidFill>
              <a:srgbClr val="F4A261"/>
            </a:solidFill>
            <a:ln w="31750" cap="flat">
              <a:solidFill>
                <a:srgbClr val="F4A2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500</c:v>
                </c:pt>
                <c:pt idx="1">
                  <c:v>508</c:v>
                </c:pt>
                <c:pt idx="2">
                  <c:v>496</c:v>
                </c:pt>
                <c:pt idx="3">
                  <c:v>515</c:v>
                </c:pt>
                <c:pt idx="4">
                  <c:v>522</c:v>
                </c:pt>
                <c:pt idx="5">
                  <c:v>539</c:v>
                </c:pt>
                <c:pt idx="6">
                  <c:v>556</c:v>
                </c:pt>
                <c:pt idx="7">
                  <c:v>545</c:v>
                </c:pt>
                <c:pt idx="8">
                  <c:v>559</c:v>
                </c:pt>
                <c:pt idx="9">
                  <c:v>567</c:v>
                </c:pt>
                <c:pt idx="10">
                  <c:v>552</c:v>
                </c:pt>
                <c:pt idx="11">
                  <c:v>573</c:v>
                </c:pt>
                <c:pt idx="12">
                  <c:v>596</c:v>
                </c:pt>
                <c:pt idx="13">
                  <c:v>612</c:v>
                </c:pt>
                <c:pt idx="14">
                  <c:v>632</c:v>
                </c:pt>
                <c:pt idx="15">
                  <c:v>621</c:v>
                </c:pt>
                <c:pt idx="16">
                  <c:v>640</c:v>
                </c:pt>
                <c:pt idx="17">
                  <c:v>657</c:v>
                </c:pt>
                <c:pt idx="18">
                  <c:v>680</c:v>
                </c:pt>
                <c:pt idx="19">
                  <c:v>691</c:v>
                </c:pt>
                <c:pt idx="20">
                  <c:v>725</c:v>
                </c:pt>
                <c:pt idx="21">
                  <c:v>688</c:v>
                </c:pt>
                <c:pt idx="22">
                  <c:v>671</c:v>
                </c:pt>
                <c:pt idx="23">
                  <c:v>664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Portfolio Value (₹000s)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E8FA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E8FAB">
              <a:alpha val="15000"/>
            </a:srgbClr>
          </a:solidFill>
          <a:ln w="12700">
            <a:solidFill>
              <a:srgbClr val="0E8F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0E8FAB">
              <a:alpha val="25000"/>
            </a:srgbClr>
          </a:solidFill>
          <a:ln w="12700">
            <a:solidFill>
              <a:srgbClr val="0E8F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PORTFOLIO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PROJECT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₹5,00,000 | Indian Equities &amp; Commodities | Jan 2023 – Dec 2024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063240"/>
            <a:ext cx="228600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3273552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2783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15-Stock Diversified Portfolio across 8 Sectors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685032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393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Benchmark-Beating 16.8% CAGR vs Nifty 50's 12.4%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4096512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507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Risk Framework: Sharpe, VaR, Beta, Drawdown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9132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  |  B.Com (Hons.)  |  Sri Guru Gobind Singh College of Commerce, DU  |  2024-25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₹5,00,000 → ₹6,84,250  |  36.85% Total Return  |  2-Year Simulation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15544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64008"/>
          </a:xfrm>
          <a:prstGeom prst="rect">
            <a:avLst/>
          </a:prstGeom>
          <a:solidFill>
            <a:srgbClr val="0E8FA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533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Value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₹6,84,250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Initial: ₹5,00,000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51760" cy="15544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265176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3533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16642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+36.85%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9184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₹1,84,250 profit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51760" cy="15544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88720"/>
            <a:ext cx="2651760" cy="64008"/>
          </a:xfrm>
          <a:prstGeom prst="rect">
            <a:avLst/>
          </a:prstGeom>
          <a:solidFill>
            <a:srgbClr val="0E8FAB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3533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CAGR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16642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 p.a.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2648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2-Year annualized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2651760" cy="15544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17520"/>
            <a:ext cx="2651760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821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CAGR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4930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12.4% p.a.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return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0" y="3017520"/>
            <a:ext cx="2651760" cy="15544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017520"/>
            <a:ext cx="265176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31821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Generated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0" y="34930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+4.4%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291840" y="4114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Outperformance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35040" y="3017520"/>
            <a:ext cx="2651760" cy="15544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3017520"/>
            <a:ext cx="265176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31821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34930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−8.2%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126480" y="4114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Nifty −11.5%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CONSTRUCTION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Sector Allocation | 15 Stocks | ₹5,00,000 Corpus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28600" cy="502920"/>
          </a:xfrm>
          <a:prstGeom prst="rect">
            <a:avLst/>
          </a:prstGeom>
          <a:solidFill>
            <a:srgbClr val="0E8FA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155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Svcs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344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—  ₹1,00,000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51960" y="1097280"/>
            <a:ext cx="22860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1155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1344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 —  ₹85,000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22860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756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Disc.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3042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 —  ₹70,000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51960" y="2057400"/>
            <a:ext cx="22860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0756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3042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 —  ₹65,000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22860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358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26440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 —  ₹60,000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51960" y="3017520"/>
            <a:ext cx="228600" cy="5029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0358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326440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—  ₹50,000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977640"/>
            <a:ext cx="228600" cy="5029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959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Gold/Commodity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2245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 —  ₹40,000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3977640"/>
            <a:ext cx="22860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39959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&amp; EV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42245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 —  ₹30,000</a:t>
            </a:r>
            <a:endParaRPr lang="en-US" sz="9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5760720" y="1051560"/>
          <a:ext cx="3200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SELECTION RATIONALE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High-Conviction Picks | Large &amp; Mid-Cap NSE Listed | Fundamental + Momentum Screen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1371600" cy="292608"/>
          </a:xfrm>
          <a:prstGeom prst="rect">
            <a:avLst/>
          </a:prstGeom>
          <a:solidFill>
            <a:srgbClr val="0E8FA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338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91640" y="1115568"/>
            <a:ext cx="1371600" cy="292608"/>
          </a:xfrm>
          <a:prstGeom prst="rect">
            <a:avLst/>
          </a:prstGeom>
          <a:solidFill>
            <a:srgbClr val="0E8FAB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1338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063240" y="1115568"/>
            <a:ext cx="1005840" cy="292608"/>
          </a:xfrm>
          <a:prstGeom prst="rect">
            <a:avLst/>
          </a:prstGeom>
          <a:solidFill>
            <a:srgbClr val="0E8FAB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11338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Px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069080" y="1115568"/>
            <a:ext cx="1005840" cy="292608"/>
          </a:xfrm>
          <a:prstGeom prst="rect">
            <a:avLst/>
          </a:prstGeom>
          <a:solidFill>
            <a:srgbClr val="0E8FAB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11338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74920" y="1115568"/>
            <a:ext cx="1005840" cy="292608"/>
          </a:xfrm>
          <a:prstGeom prst="rect">
            <a:avLst/>
          </a:prstGeom>
          <a:solidFill>
            <a:srgbClr val="0E8FAB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1338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80760" y="1115568"/>
            <a:ext cx="868680" cy="292608"/>
          </a:xfrm>
          <a:prstGeom prst="rect">
            <a:avLst/>
          </a:prstGeom>
          <a:solidFill>
            <a:srgbClr val="0E8FA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13385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1444752"/>
            <a:ext cx="137160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" y="1472184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HDFCBANK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691640" y="1444752"/>
            <a:ext cx="137160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28216" y="1472184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3240" y="1444752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99816" y="1472184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069080" y="1444752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05656" y="1472184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74920" y="1444752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11496" y="1472184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+10.3%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080760" y="1444752"/>
            <a:ext cx="86868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7336" y="1472184"/>
            <a:ext cx="795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1677924"/>
            <a:ext cx="1371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" y="1705356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BAJFINANCE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91640" y="1677924"/>
            <a:ext cx="1371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28216" y="1705356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63240" y="1677924"/>
            <a:ext cx="10058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99816" y="1705356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6200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069080" y="1677924"/>
            <a:ext cx="10058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05656" y="1705356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7150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074920" y="1677924"/>
            <a:ext cx="10058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11496" y="1705356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+15.3%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080760" y="1677924"/>
            <a:ext cx="8686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17336" y="1705356"/>
            <a:ext cx="795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0040" y="1911096"/>
            <a:ext cx="137160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6616" y="1938528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691640" y="1911096"/>
            <a:ext cx="137160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28216" y="1938528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063240" y="1911096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99816" y="1938528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3320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069080" y="1911096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05656" y="1938528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3890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74920" y="1911096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11496" y="1938528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+17.2%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080760" y="1911096"/>
            <a:ext cx="86868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17336" y="1938528"/>
            <a:ext cx="795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20040" y="2144268"/>
            <a:ext cx="1371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6616" y="2171700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INFY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91640" y="2144268"/>
            <a:ext cx="1371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28216" y="2171700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063240" y="2144268"/>
            <a:ext cx="10058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99816" y="2171700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1420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069080" y="2144268"/>
            <a:ext cx="10058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05656" y="2171700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1625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074920" y="2144268"/>
            <a:ext cx="10058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11496" y="2171700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+14.4%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080760" y="2144268"/>
            <a:ext cx="8686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17336" y="2171700"/>
            <a:ext cx="795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20040" y="2377440"/>
            <a:ext cx="137160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6616" y="2404872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691640" y="2377440"/>
            <a:ext cx="137160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28216" y="2404872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063240" y="2377440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099816" y="2404872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2680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069080" y="2377440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05656" y="2404872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3240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074920" y="2377440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111496" y="2404872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+20.9%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080760" y="2377440"/>
            <a:ext cx="86868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17336" y="2404872"/>
            <a:ext cx="795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20040" y="2610612"/>
            <a:ext cx="1371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56616" y="2638044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691640" y="2610612"/>
            <a:ext cx="1371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728216" y="2638044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063240" y="2610612"/>
            <a:ext cx="10058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099816" y="2638044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3950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069080" y="2610612"/>
            <a:ext cx="10058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105656" y="2638044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4620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5074920" y="2610612"/>
            <a:ext cx="10058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111496" y="2638044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+17.0%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080760" y="2610612"/>
            <a:ext cx="8686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17336" y="2638044"/>
            <a:ext cx="795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20040" y="2843784"/>
            <a:ext cx="137160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56616" y="2871216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SUNPHARMA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1691640" y="2843784"/>
            <a:ext cx="137160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728216" y="2871216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3063240" y="2843784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099816" y="2871216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930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069080" y="2843784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105656" y="2871216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1185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5074920" y="2843784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111496" y="2871216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+27.4%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6080760" y="2843784"/>
            <a:ext cx="86868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117336" y="2871216"/>
            <a:ext cx="795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320040" y="3076956"/>
            <a:ext cx="1371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56616" y="3104388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DRREDDY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1691640" y="3076956"/>
            <a:ext cx="1371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728216" y="3104388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3063240" y="3076956"/>
            <a:ext cx="10058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099816" y="3104388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4750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4069080" y="3076956"/>
            <a:ext cx="10058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105656" y="3104388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5620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5074920" y="3076956"/>
            <a:ext cx="10058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11496" y="3104388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+18.3%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6080760" y="3076956"/>
            <a:ext cx="8686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117336" y="3104388"/>
            <a:ext cx="795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320040" y="3310128"/>
            <a:ext cx="137160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56616" y="3337560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691640" y="3310128"/>
            <a:ext cx="137160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728216" y="3337560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3063240" y="3310128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099816" y="3337560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2460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4069080" y="3310128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105656" y="3337560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2810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5074920" y="3310128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111496" y="3337560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+14.2%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6080760" y="3310128"/>
            <a:ext cx="86868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117336" y="3337560"/>
            <a:ext cx="795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320040" y="3543300"/>
            <a:ext cx="1371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56616" y="3570732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NTPC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1691640" y="3543300"/>
            <a:ext cx="1371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728216" y="3570732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3063240" y="3543300"/>
            <a:ext cx="10058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099816" y="3570732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4069080" y="3543300"/>
            <a:ext cx="10058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105656" y="3570732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5074920" y="3543300"/>
            <a:ext cx="10058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111496" y="3570732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+43.3%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6080760" y="3543300"/>
            <a:ext cx="8686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117336" y="3570732"/>
            <a:ext cx="795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320040" y="3776472"/>
            <a:ext cx="137160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56616" y="3803904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LTIM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1691640" y="3776472"/>
            <a:ext cx="137160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728216" y="3803904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IT/Infra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3063240" y="3776472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099816" y="3803904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4800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4069080" y="3776472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105656" y="3803904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5650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5074920" y="3776472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111496" y="3803904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+17.7%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6080760" y="3776472"/>
            <a:ext cx="86868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117336" y="3803904"/>
            <a:ext cx="795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320040" y="4009644"/>
            <a:ext cx="1371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356616" y="4037076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ULTRACEMCO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1691640" y="4009644"/>
            <a:ext cx="1371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728216" y="4037076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3063240" y="4009644"/>
            <a:ext cx="10058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3099816" y="4037076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7200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4069080" y="4009644"/>
            <a:ext cx="10058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4105656" y="4037076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9450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>
            <a:off x="5074920" y="4009644"/>
            <a:ext cx="10058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5111496" y="4037076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+31.3%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6080760" y="4009644"/>
            <a:ext cx="8686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6117336" y="4037076"/>
            <a:ext cx="795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320040" y="4242816"/>
            <a:ext cx="137160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356616" y="4270248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GOLDBEES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1691640" y="4242816"/>
            <a:ext cx="137160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728216" y="4270248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3063240" y="4242816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3099816" y="4270248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4069080" y="4242816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4105656" y="4270248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5074920" y="4242816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5111496" y="4270248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+29.2%</a:t>
            </a:r>
            <a:endParaRPr lang="en-US" sz="800" dirty="0"/>
          </a:p>
        </p:txBody>
      </p:sp>
      <p:sp>
        <p:nvSpPr>
          <p:cNvPr id="171" name="Shape 169"/>
          <p:cNvSpPr/>
          <p:nvPr/>
        </p:nvSpPr>
        <p:spPr>
          <a:xfrm>
            <a:off x="6080760" y="4242816"/>
            <a:ext cx="86868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6117336" y="4270248"/>
            <a:ext cx="795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800" dirty="0"/>
          </a:p>
        </p:txBody>
      </p:sp>
      <p:sp>
        <p:nvSpPr>
          <p:cNvPr id="173" name="Shape 171"/>
          <p:cNvSpPr/>
          <p:nvPr/>
        </p:nvSpPr>
        <p:spPr>
          <a:xfrm>
            <a:off x="320040" y="4475988"/>
            <a:ext cx="1371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356616" y="4503420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TATAMOTORS</a:t>
            </a:r>
            <a:endParaRPr lang="en-US" sz="800" dirty="0"/>
          </a:p>
        </p:txBody>
      </p:sp>
      <p:sp>
        <p:nvSpPr>
          <p:cNvPr id="175" name="Shape 173"/>
          <p:cNvSpPr/>
          <p:nvPr/>
        </p:nvSpPr>
        <p:spPr>
          <a:xfrm>
            <a:off x="1691640" y="4475988"/>
            <a:ext cx="1371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1728216" y="4503420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177" name="Shape 175"/>
          <p:cNvSpPr/>
          <p:nvPr/>
        </p:nvSpPr>
        <p:spPr>
          <a:xfrm>
            <a:off x="3063240" y="4475988"/>
            <a:ext cx="10058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3099816" y="4503420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4069080" y="4475988"/>
            <a:ext cx="10058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105656" y="4503420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780</a:t>
            </a:r>
            <a:endParaRPr lang="en-US" sz="800" dirty="0"/>
          </a:p>
        </p:txBody>
      </p:sp>
      <p:sp>
        <p:nvSpPr>
          <p:cNvPr id="181" name="Shape 179"/>
          <p:cNvSpPr/>
          <p:nvPr/>
        </p:nvSpPr>
        <p:spPr>
          <a:xfrm>
            <a:off x="5074920" y="4475988"/>
            <a:ext cx="10058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5111496" y="4503420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+34.5%</a:t>
            </a:r>
            <a:endParaRPr lang="en-US" sz="800" dirty="0"/>
          </a:p>
        </p:txBody>
      </p:sp>
      <p:sp>
        <p:nvSpPr>
          <p:cNvPr id="183" name="Shape 181"/>
          <p:cNvSpPr/>
          <p:nvPr/>
        </p:nvSpPr>
        <p:spPr>
          <a:xfrm>
            <a:off x="6080760" y="4475988"/>
            <a:ext cx="8686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6117336" y="4503420"/>
            <a:ext cx="795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1.45</a:t>
            </a:r>
            <a:endParaRPr lang="en-US" sz="800" dirty="0"/>
          </a:p>
        </p:txBody>
      </p:sp>
      <p:sp>
        <p:nvSpPr>
          <p:cNvPr id="185" name="Shape 183"/>
          <p:cNvSpPr/>
          <p:nvPr/>
        </p:nvSpPr>
        <p:spPr>
          <a:xfrm>
            <a:off x="320040" y="4709160"/>
            <a:ext cx="137160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356616" y="4736592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M&amp;M</a:t>
            </a:r>
            <a:endParaRPr lang="en-US" sz="800" dirty="0"/>
          </a:p>
        </p:txBody>
      </p:sp>
      <p:sp>
        <p:nvSpPr>
          <p:cNvPr id="187" name="Shape 185"/>
          <p:cNvSpPr/>
          <p:nvPr/>
        </p:nvSpPr>
        <p:spPr>
          <a:xfrm>
            <a:off x="1691640" y="4709160"/>
            <a:ext cx="137160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1728216" y="4736592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189" name="Shape 187"/>
          <p:cNvSpPr/>
          <p:nvPr/>
        </p:nvSpPr>
        <p:spPr>
          <a:xfrm>
            <a:off x="3063240" y="4709160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3099816" y="4736592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1350</a:t>
            </a:r>
            <a:endParaRPr lang="en-US" sz="800" dirty="0"/>
          </a:p>
        </p:txBody>
      </p:sp>
      <p:sp>
        <p:nvSpPr>
          <p:cNvPr id="191" name="Shape 189"/>
          <p:cNvSpPr/>
          <p:nvPr/>
        </p:nvSpPr>
        <p:spPr>
          <a:xfrm>
            <a:off x="4069080" y="4709160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4105656" y="4736592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1720</a:t>
            </a:r>
            <a:endParaRPr lang="en-US" sz="800" dirty="0"/>
          </a:p>
        </p:txBody>
      </p:sp>
      <p:sp>
        <p:nvSpPr>
          <p:cNvPr id="193" name="Shape 191"/>
          <p:cNvSpPr/>
          <p:nvPr/>
        </p:nvSpPr>
        <p:spPr>
          <a:xfrm>
            <a:off x="5074920" y="4709160"/>
            <a:ext cx="100584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5111496" y="4736592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+27.4%</a:t>
            </a:r>
            <a:endParaRPr lang="en-US" sz="800" dirty="0"/>
          </a:p>
        </p:txBody>
      </p:sp>
      <p:sp>
        <p:nvSpPr>
          <p:cNvPr id="195" name="Shape 193"/>
          <p:cNvSpPr/>
          <p:nvPr/>
        </p:nvSpPr>
        <p:spPr>
          <a:xfrm>
            <a:off x="6080760" y="4709160"/>
            <a:ext cx="868680" cy="2286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6117336" y="4736592"/>
            <a:ext cx="795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vs NIFTY 50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NAV Comparison | 24-Month Simulation Period | Jan 2023 – Dec 2024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97280"/>
          <a:ext cx="85039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371600" y="4526280"/>
            <a:ext cx="2286000" cy="4572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371600" y="454456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CAGR: +16.8%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931920" y="4526280"/>
            <a:ext cx="2286000" cy="4572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931920" y="454456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CAGR: +12.4%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92240" y="4526280"/>
            <a:ext cx="2286000" cy="4572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454456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Alpha: +4.4%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FRAMEWORK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Risk Metrics | Position Sizing Rules | Stop-Loss Framework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286000" cy="292608"/>
          </a:xfrm>
          <a:prstGeom prst="rect">
            <a:avLst/>
          </a:prstGeom>
          <a:solidFill>
            <a:srgbClr val="0E8FAB"/>
          </a:solidFill>
          <a:ln/>
        </p:spPr>
      </p:sp>
      <p:sp>
        <p:nvSpPr>
          <p:cNvPr id="6" name="Text 4"/>
          <p:cNvSpPr/>
          <p:nvPr/>
        </p:nvSpPr>
        <p:spPr>
          <a:xfrm>
            <a:off x="374904" y="111556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Metric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371600" cy="292608"/>
          </a:xfrm>
          <a:prstGeom prst="rect">
            <a:avLst/>
          </a:prstGeom>
          <a:solidFill>
            <a:srgbClr val="0E8FAB"/>
          </a:solidFill>
          <a:ln/>
        </p:spPr>
      </p:sp>
      <p:sp>
        <p:nvSpPr>
          <p:cNvPr id="8" name="Text 6"/>
          <p:cNvSpPr/>
          <p:nvPr/>
        </p:nvSpPr>
        <p:spPr>
          <a:xfrm>
            <a:off x="2660904" y="111556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77640" y="1097280"/>
            <a:ext cx="1371600" cy="292608"/>
          </a:xfrm>
          <a:prstGeom prst="rect">
            <a:avLst/>
          </a:prstGeom>
          <a:solidFill>
            <a:srgbClr val="0E8FAB"/>
          </a:solidFill>
          <a:ln/>
        </p:spPr>
      </p:sp>
      <p:sp>
        <p:nvSpPr>
          <p:cNvPr id="10" name="Text 8"/>
          <p:cNvSpPr/>
          <p:nvPr/>
        </p:nvSpPr>
        <p:spPr>
          <a:xfrm>
            <a:off x="4032504" y="111556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49240" y="1097280"/>
            <a:ext cx="2743200" cy="292608"/>
          </a:xfrm>
          <a:prstGeom prst="rect">
            <a:avLst/>
          </a:prstGeom>
          <a:solidFill>
            <a:srgbClr val="0E8FAB"/>
          </a:solidFill>
          <a:ln/>
        </p:spPr>
      </p:sp>
      <p:sp>
        <p:nvSpPr>
          <p:cNvPr id="12" name="Text 10"/>
          <p:cNvSpPr/>
          <p:nvPr/>
        </p:nvSpPr>
        <p:spPr>
          <a:xfrm>
            <a:off x="5404104" y="111556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426464"/>
            <a:ext cx="2286000" cy="32004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1490472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1426464"/>
            <a:ext cx="1371600" cy="32004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0904" y="1490472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77640" y="1426464"/>
            <a:ext cx="1371600" cy="32004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32504" y="1490472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49240" y="1426464"/>
            <a:ext cx="2743200" cy="32004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04104" y="1490472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risk-adj. return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1773936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" y="1837944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Ratio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606040" y="1773936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60904" y="1837944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977640" y="1773936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32504" y="1837944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349240" y="1773936"/>
            <a:ext cx="2743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04104" y="1837944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downside deviation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2121408"/>
            <a:ext cx="2286000" cy="32004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" y="2185416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06040" y="2121408"/>
            <a:ext cx="1371600" cy="32004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60904" y="2185416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977640" y="2121408"/>
            <a:ext cx="1371600" cy="32004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32504" y="2185416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349240" y="2121408"/>
            <a:ext cx="2743200" cy="32004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04104" y="2185416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vs Nifty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246888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" y="2532888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606040" y="2468880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60904" y="2532888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4.4%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977640" y="2468880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32504" y="2532888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49240" y="2468880"/>
            <a:ext cx="2743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04104" y="2532888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CAPM prediction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2816352"/>
            <a:ext cx="2286000" cy="32004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4904" y="2880360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606040" y="2816352"/>
            <a:ext cx="1371600" cy="32004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60904" y="2880360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−8.2%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977640" y="2816352"/>
            <a:ext cx="1371600" cy="32004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32504" y="2880360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−11.5%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349240" y="2816352"/>
            <a:ext cx="2743200" cy="32004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04104" y="2880360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capital preservation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0040" y="3163824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4904" y="3227832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(95%, 1D)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606040" y="3163824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60904" y="3227832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−1.82%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977640" y="3163824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32504" y="3227832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−2.1%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349240" y="3163824"/>
            <a:ext cx="2743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04104" y="3227832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daily tail-risk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20040" y="3511296"/>
            <a:ext cx="2286000" cy="32004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4904" y="3575304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Ratio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606040" y="3511296"/>
            <a:ext cx="1371600" cy="32004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60904" y="3575304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977640" y="3511296"/>
            <a:ext cx="1371600" cy="32004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32504" y="3575304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349240" y="3511296"/>
            <a:ext cx="2743200" cy="32004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04104" y="3575304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active return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20040" y="3858768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4904" y="3922776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Calmar Ratio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606040" y="3858768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660904" y="3922776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2.05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977640" y="3858768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032504" y="3922776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349240" y="3858768"/>
            <a:ext cx="2743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04104" y="3922776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per max drawdown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REBALANCING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Quarterly Review | Drift Trigger: ±5% | 12 Rebalancing Events in 24 Months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347472"/>
          </a:xfrm>
          <a:prstGeom prst="rect">
            <a:avLst/>
          </a:prstGeom>
          <a:solidFill>
            <a:srgbClr val="0E8FAB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11556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Rules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4114800" cy="4572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673352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0020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single stock: ≤10% portfolio weight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176272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0312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sector weight: ≤20% of portfolio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14600"/>
            <a:ext cx="4114800" cy="4572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679192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0604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review — rebalance if ±5% drift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182112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1089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Stop-loss triggered: −15% from cost price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1097280"/>
            <a:ext cx="4114800" cy="347472"/>
          </a:xfrm>
          <a:prstGeom prst="rect">
            <a:avLst/>
          </a:prstGeom>
          <a:solidFill>
            <a:srgbClr val="0E8FAB"/>
          </a:solidFill>
          <a:ln/>
        </p:spPr>
      </p:sp>
      <p:sp>
        <p:nvSpPr>
          <p:cNvPr id="20" name="Text 18"/>
          <p:cNvSpPr/>
          <p:nvPr/>
        </p:nvSpPr>
        <p:spPr>
          <a:xfrm>
            <a:off x="4818888" y="111556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Rebalancing Actions (Sample)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1508760"/>
            <a:ext cx="4114800" cy="4572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673352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160020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Apr-23: Trimmed TCS (+1% drift) → Added NTPC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201168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176272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10312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Oct-23: Added GoldBees (geopolitical hedge)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2514600"/>
            <a:ext cx="4114800" cy="45720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2679192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260604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Jan-24: Added M&amp;M (EV theme underweight)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01752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182112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31089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Oct-24: Trimmed Reliance (energy cap hit)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3657600"/>
            <a:ext cx="8503920" cy="548640"/>
          </a:xfrm>
          <a:prstGeom prst="rect">
            <a:avLst/>
          </a:prstGeom>
          <a:solidFill>
            <a:srgbClr val="E8F7FA"/>
          </a:solidFill>
          <a:ln w="12700">
            <a:solidFill>
              <a:srgbClr val="0E8F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71246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Rebalancing Outcome: Portfolio maintained target weights within ±3% throughout simulation. Reduced concentration risk and locked partial gains in outperformers (NTPC +43%, TATAMOTORS +34.5%).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 — DEEP DIVES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High-Conviction Picks | Fundamental Analysis | Entry / Exit Rationale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37490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+43.3%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9019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121408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largest power utility positioned at the center of the energy transition. 10 GW renewable target by FY28. FY25 PAT grew 14% YoY with stable regulated returns (ROE ~13%). Under-owned by FIIs — re-rating potential.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34015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Catalysts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62102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capex push | Solar/wind capacity addition | Green bond issuance | Tariff revision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2743200" cy="37490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97280"/>
            <a:ext cx="2743200" cy="54864"/>
          </a:xfrm>
          <a:prstGeom prst="rect">
            <a:avLst/>
          </a:prstGeom>
          <a:solidFill>
            <a:srgbClr val="0E8FAB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SUNPHARMA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3756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+27.4%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9019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2121408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specialty pivot story. ILUMYA (psoriasis) hitting $400M+ revenue run-rate. India branded generics at 32% market share. De-risked USFDA plant status. Dermatology moat creates pricing power vs generics.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37560" y="34015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Catalysts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362102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specialty ramp | India Rx growth | EM expansion | USFDA clearance pipeline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72200" y="1097280"/>
            <a:ext cx="2743200" cy="37490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1097280"/>
            <a:ext cx="27432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GOLDBEES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6364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+29.2%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9019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63640" y="2121408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8% SAA hedge allocation. Oct-23 geopolitical shock (Israel-Gaza) triggered tactical add. Negative equity correlation (−0.3 to 0.1). Acts as tail-risk insurance — justifies lower return expectation vs equity.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63640" y="34015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Catalysts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362102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gold buying | US rate cuts → real yield ↓ | INR depreciation hedge | Geopolitical premium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ANALYST INSIGHTS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Interview-Ready Takeaways | What the Data Tells Us | What I'd Do Differently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7373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64008" cy="1737360"/>
          </a:xfrm>
          <a:prstGeom prst="rect">
            <a:avLst/>
          </a:prstGeom>
          <a:solidFill>
            <a:srgbClr val="0E8FAB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2527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Diversification Works — Partially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6459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correlation with Nifty was 0.78, not zero. True diversification requires cross-asset exposure (debt, REITs) — equity-only portfolios remain Nifty-correlated at core.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114800" cy="17373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43000"/>
            <a:ext cx="64008" cy="1737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2527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Beta Management = Alpha Source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3752" y="16459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portfolio beta of 0.91 (vs Nifty 1.0) reduced drawdown to −8.2% vs Nifty's −11.5%. Defensive tilt via NTPC, SUNPHARMA, GOLDBEES proved effective in Oct-23 correction.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3063240"/>
            <a:ext cx="4114800" cy="17373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63240"/>
            <a:ext cx="64008" cy="17373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31729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Rebalancing Locks In Gains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" y="35661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Trimming NTPC at +30% and re-deploying to laggards (DRREDDY) captured mean reversion. Rules-based rebalancing outperformed buy-and-hold by an estimated 180 bps.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3063240"/>
            <a:ext cx="4114800" cy="17373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063240"/>
            <a:ext cx="64008" cy="17373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4873752" y="31729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Momentum + Value Blend Outperformed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73752" y="35661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value plays (NTPC, SUNPHARMA) had the highest absolute returns (+43%, +27%). Momentum plays (TATAMOTORS, TITAN) added growth. The blend beat either strategy alone.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0E8FA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E8F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E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₹5,00,000 Portfolio Simulation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full-cycle investment portfolio simulation replicating real analyst workflows: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6032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 CAGR vs 12.4% Nifty 50 benchmark — 440 bps alpha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3008376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6265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risk framework: Sharpe (0.92), Sortino (1.24), VaR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410712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6499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rebalancing with documented investment theses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813048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6732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model with live formulas + 7-sheet portfolio tracker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9664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24-month performance attribution &amp; sector rotation analysis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9132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70001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  |  B.Com (Hons.) 3rd Year  |  SGGSCC, Delhi University  |  Finance &amp; Capital Markets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₹5,00,000 Investment Portfolio Simulation</dc:title>
  <dc:subject>PptxGenJS Presentation</dc:subject>
  <dc:creator>PptxGenJS</dc:creator>
  <cp:lastModifiedBy>PptxGenJS</cp:lastModifiedBy>
  <cp:revision>1</cp:revision>
  <dcterms:created xsi:type="dcterms:W3CDTF">2026-05-20T11:36:59Z</dcterms:created>
  <dcterms:modified xsi:type="dcterms:W3CDTF">2026-05-20T11:36:59Z</dcterms:modified>
</cp:coreProperties>
</file>